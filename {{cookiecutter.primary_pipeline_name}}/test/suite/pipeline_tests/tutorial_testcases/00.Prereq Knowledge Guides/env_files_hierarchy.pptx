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9"/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43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36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in the Framework — env_files/ vs .env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 framework defaults  +  your personal .env (gitignored)  =  final values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577840" cy="4114800"/>
          </a:xfrm>
          <a:prstGeom prst="roundRect">
            <a:avLst>
              <a:gd name="adj" fmla="val 2222"/>
            </a:avLst>
          </a:prstGeom>
          <a:solidFill>
            <a:srgbClr val="DCE6F1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env_files/ folder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EXISTS BY DEFAULT — ships with the framework when you clone the repo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" y="1719072"/>
            <a:ext cx="5248656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8FA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764792"/>
            <a:ext cx="5065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env_files/database_accounts/.env.oracle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502920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ORACLE_HOSTNAME=oracle-db
</a:t>
            </a: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ORACLE_PORT=1521
ORACLE_USERNAME=testuser
ORACLE_PASSWORD=testpass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" y="2880360"/>
            <a:ext cx="5248656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8FA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926080"/>
            <a:ext cx="5065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env_files/mock_service_accounts/.env.s3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502920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S3_ENDPOINT=http://minio:9000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S3_ACCESS_KEY=minioadmin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S3_SECRET_KEY=minioadmin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S3_REGION=us-east-1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" y="4041648"/>
            <a:ext cx="5248656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8FA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4087368"/>
            <a:ext cx="50657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env_files/messaging_service_accounts/.env.kafka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502920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KAFKA_BROKER=kafka:9092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KAFKA_TOPIC=test_topic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KAFKA_GROUP_ID=test_group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2788920"/>
            <a:ext cx="502920" cy="502920"/>
          </a:xfrm>
          <a:prstGeom prst="rightArrow">
            <a:avLst/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15000" y="33375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overrides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100584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2CC"/>
          </a:solidFill>
          <a:ln w="25400">
            <a:solidFill>
              <a:srgbClr val="BF8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37960" y="10789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F6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 (project root)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13898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YOU create this  •  🔒 gitignored — never committed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02552" y="1719072"/>
            <a:ext cx="5157216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BF8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30568" y="1810512"/>
            <a:ext cx="4901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SnapLogic credentials (you fill in)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30568" y="2039112"/>
            <a:ext cx="4901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D4E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URL=https://elastic.snaplogic.com
ORG_NAME=my_org
ORG_ADMIN_USER=admin
ORG_ADMIN_PASSWORD=admin123
PROJECT_SPACE=my_space
PROJECT_NAME=pipeline_tests
GROUNDPLEX_NAME=dev_plex
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30568" y="3502152"/>
            <a:ext cx="4901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Override Oracle hostname from env_files/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93992" y="3730752"/>
            <a:ext cx="4974336" cy="384048"/>
          </a:xfrm>
          <a:prstGeom prst="rect">
            <a:avLst/>
          </a:prstGeom>
          <a:solidFill>
            <a:srgbClr val="FCE4D6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0" y="375818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ORACLE_HOSTNAME=my-custom-oracle.com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0568" y="4169664"/>
            <a:ext cx="4901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Same key as env_files/.env.oracle — this WINS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5303520"/>
            <a:ext cx="1175004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537667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tests with NO ENV flag — see how the values merge: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56509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E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robot-run-all-tests TAGS=oracle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01675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ORACLE_HOSTNAME = </a:t>
            </a:r>
            <a:r>
              <a:rPr lang="en-US" sz="1100" b="1" dirty="0">
                <a:solidFill>
                  <a:srgbClr val="FC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my-custom-oracle.com</a:t>
            </a:r>
            <a:r>
              <a:rPr lang="en-US" sz="800" i="1" dirty="0">
                <a:solidFill>
                  <a:srgbClr val="FCE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.env wins
</a:t>
            </a: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ORACLE_PORT = </a:t>
            </a:r>
            <a:r>
              <a:rPr lang="en-US" sz="1100" b="1" dirty="0">
                <a:solidFill>
                  <a:srgbClr val="B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1521</a:t>
            </a:r>
            <a:r>
              <a:rPr lang="en-US" sz="800" i="1" dirty="0">
                <a:solidFill>
                  <a:srgbClr val="B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from env_files/  (not overridden)
</a:t>
            </a: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ORACLE_USERNAME = </a:t>
            </a:r>
            <a:r>
              <a:rPr lang="en-US" sz="1100" b="1" dirty="0">
                <a:solidFill>
                  <a:srgbClr val="B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testuser</a:t>
            </a:r>
            <a:r>
              <a:rPr lang="en-US" sz="800" i="1" dirty="0">
                <a:solidFill>
                  <a:srgbClr val="B4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from env_files/  (not overridden)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56692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E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RULE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58978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same key from env_files/ into .env and put your value — that's it. .env always wins over env_files/.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Environment-Specific Overrides — ENV=.env.stage / .env.prod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layers, same variable, different commands — watch ORACLE_HOSTNAME resolve differently each time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57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0700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(loaded when ENV=.env.stage)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ORG_ADMIN_USER=stage_user
ORG_ADMIN_PASSWORD=stage_pass
ORG_NAME=stage_org
</a:t>
            </a:r>
            <a:r>
              <a:rPr lang="en-US" sz="1000" b="1" dirty="0">
                <a:solidFill>
                  <a:srgbClr val="0B50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ORACLE_HOSTNAME=stage-oracle.co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86200" y="9144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8D7DA"/>
          </a:solidFill>
          <a:ln w="254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86200" y="9601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21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.env.prod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86200" y="1207008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(loaded when ENV=.env.prod)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95928" y="14173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ORG_ADMIN_USER=prod_user
ORG_ADMIN_PASSWORD=prod_pass
ORG_NAME=prod_org
</a:t>
            </a:r>
            <a:r>
              <a:rPr lang="en-US" sz="1000" b="1" dirty="0">
                <a:solidFill>
                  <a:srgbClr val="5B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ORACLE_HOSTNAME=prod-oracle.co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2450592"/>
            <a:ext cx="457200" cy="320040"/>
          </a:xfrm>
          <a:prstGeom prst="upArrow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77640" y="24963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7040880" cy="1737360"/>
          </a:xfrm>
          <a:prstGeom prst="roundRect">
            <a:avLst>
              <a:gd name="adj" fmla="val 4211"/>
            </a:avLst>
          </a:prstGeom>
          <a:solidFill>
            <a:srgbClr val="FFF2CC"/>
          </a:solidFill>
          <a:ln w="25400">
            <a:solidFill>
              <a:srgbClr val="BF8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92608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6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 (BASE — always loaded)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172968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settings shared across all environments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3832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ORG_ADMIN_USER=admin
ORG_ADMIN_PASSWORD=admin123
ORG_NAME=base_org
</a:t>
            </a:r>
            <a:r>
              <a:rPr lang="en-US" sz="1000" b="1" dirty="0">
                <a:solidFill>
                  <a:srgbClr val="4A3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ORACLE_HOSTNAME=base-oracle.local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86200" y="33832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PROJECT_SPACE=base_space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4E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PROJECT_NAME=pipeline_tests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4E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GROUNDPLEX_NAME=dev_plex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4645152"/>
            <a:ext cx="457200" cy="320040"/>
          </a:xfrm>
          <a:prstGeom prst="upArrow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77640" y="46908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5074920"/>
            <a:ext cx="7040880" cy="1417320"/>
          </a:xfrm>
          <a:prstGeom prst="roundRect">
            <a:avLst>
              <a:gd name="adj" fmla="val 5161"/>
            </a:avLst>
          </a:prstGeom>
          <a:solidFill>
            <a:srgbClr val="DCE6F1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512064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env_files/ folder  (per-service defaults)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3192" y="5440680"/>
            <a:ext cx="221284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8FA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3192" y="5477256"/>
            <a:ext cx="22128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.env.oracle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" y="5715000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30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ORACLE_HOSTNAME=oracle-db
</a:t>
            </a:r>
            <a:r>
              <a:rPr lang="en-US" sz="8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ORACLE_PORT=1521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97480" y="5440680"/>
            <a:ext cx="221284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8FA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97480" y="5477256"/>
            <a:ext cx="22128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.env.s3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5715000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S3_ENDPOINT=http://minio:9000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S3_ACCESS_KEY=minioadmin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01768" y="5440680"/>
            <a:ext cx="221284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8FA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01768" y="5477256"/>
            <a:ext cx="221284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.env.kafka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47488" y="5715000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KAFKA_BROKER=kafka:9092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KAFKA_TOPIC=test_topic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52360" y="914400"/>
            <a:ext cx="4526280" cy="5669280"/>
          </a:xfrm>
          <a:prstGeom prst="roundRect">
            <a:avLst>
              <a:gd name="adj" fmla="val 202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52360" y="1024128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Variable. Different Commands.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52360" y="1307592"/>
            <a:ext cx="4526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ORACLE_HOSTNAME resolves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16952" y="1664208"/>
            <a:ext cx="4197096" cy="1417320"/>
          </a:xfrm>
          <a:prstGeom prst="roundRect">
            <a:avLst>
              <a:gd name="adj" fmla="val 3871"/>
            </a:avLst>
          </a:prstGeom>
          <a:solidFill>
            <a:srgbClr val="2D3D7A"/>
          </a:solidFill>
          <a:ln w="25400">
            <a:solidFill>
              <a:srgbClr val="FFE6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08392" y="1719072"/>
            <a:ext cx="4014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E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Default (no ENV passed)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08392" y="1956816"/>
            <a:ext cx="4014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robot-run-all-tests TAGS=oracle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08392" y="2167128"/>
            <a:ext cx="4014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</a:t>
            </a:r>
            <a:r>
              <a:rPr lang="en-US" sz="1000" b="1" dirty="0">
                <a:solidFill>
                  <a:srgbClr val="B4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env_files/ 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00" b="1" dirty="0">
                <a:solidFill>
                  <a:srgbClr val="FFE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</a:t>
            </a: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(.env wins)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08392" y="2825496"/>
            <a:ext cx="401421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cs typeface="Consolas" pitchFamily="34" charset="-120"/>
              </a:rPr>
              <a:t>ORG_ADMIN_USER=</a:t>
            </a:r>
            <a: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  <a:t>admin</a:t>
            </a:r>
            <a:b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</a:b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cs typeface="Consolas" pitchFamily="34" charset="-120"/>
              </a:rPr>
              <a:t>ORG_ADMIN_PASSWORD</a:t>
            </a:r>
            <a: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  <a:t>= admin123</a:t>
            </a:r>
            <a:b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</a:b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ORACLE_HOSTNAME = </a:t>
            </a:r>
            <a:r>
              <a:rPr lang="en-US" sz="1100" b="1" dirty="0">
                <a:solidFill>
                  <a:srgbClr val="FFE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base-</a:t>
            </a:r>
            <a:r>
              <a:rPr lang="en-US" sz="1100" b="1" dirty="0" err="1">
                <a:solidFill>
                  <a:srgbClr val="FFE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oracle.local</a:t>
            </a:r>
            <a:endParaRPr lang="en-US" sz="1100" b="1" dirty="0">
              <a:solidFill>
                <a:srgbClr val="FFE69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b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</a:b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16952" y="3218688"/>
            <a:ext cx="4197096" cy="1417320"/>
          </a:xfrm>
          <a:prstGeom prst="roundRect">
            <a:avLst>
              <a:gd name="adj" fmla="val 3871"/>
            </a:avLst>
          </a:prstGeom>
          <a:solidFill>
            <a:srgbClr val="2D3D7A"/>
          </a:solidFill>
          <a:ln w="25400">
            <a:solidFill>
              <a:srgbClr val="B7E5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08392" y="3273552"/>
            <a:ext cx="4014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ENV=.env.stage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08392" y="3511296"/>
            <a:ext cx="4014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robot-run-all-tests TAGS=oracle ENV=.env.stage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708392" y="3785616"/>
            <a:ext cx="4014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</a:t>
            </a:r>
            <a:r>
              <a:rPr lang="en-US" sz="1100" b="1" dirty="0">
                <a:solidFill>
                  <a:srgbClr val="B4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env_files/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.env + </a:t>
            </a:r>
            <a:r>
              <a:rPr lang="en-US" sz="1100" b="1" dirty="0">
                <a:solidFill>
                  <a:srgbClr val="B7E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.env.stage </a:t>
            </a: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(stage wins)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08392" y="4087368"/>
            <a:ext cx="4014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cs typeface="Consolas" pitchFamily="34" charset="-120"/>
              </a:rPr>
              <a:t>ORG_ADMIN_USER=</a:t>
            </a:r>
            <a: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  <a:t>stage user</a:t>
            </a:r>
            <a:b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</a:b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cs typeface="Consolas" pitchFamily="34" charset="-120"/>
              </a:rPr>
              <a:t>ORG_ADMIN_PASSWORD</a:t>
            </a:r>
            <a: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  <a:t>= stage pass</a:t>
            </a:r>
            <a:b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</a:b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ORACLE_HOSTNAME = </a:t>
            </a:r>
            <a:r>
              <a:rPr lang="en-US" sz="1100" b="1" dirty="0">
                <a:solidFill>
                  <a:srgbClr val="FFE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stage-</a:t>
            </a:r>
            <a:r>
              <a:rPr lang="en-US" sz="1100" b="1" dirty="0" err="1">
                <a:solidFill>
                  <a:srgbClr val="FFE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oracle.local</a:t>
            </a:r>
            <a:endParaRPr lang="en-US" sz="1100" b="1" dirty="0">
              <a:solidFill>
                <a:srgbClr val="FFE69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616952" y="4773168"/>
            <a:ext cx="4197096" cy="1417320"/>
          </a:xfrm>
          <a:prstGeom prst="roundRect">
            <a:avLst>
              <a:gd name="adj" fmla="val 3871"/>
            </a:avLst>
          </a:prstGeom>
          <a:solidFill>
            <a:srgbClr val="2D3D7A"/>
          </a:solidFill>
          <a:ln w="2540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08392" y="4828032"/>
            <a:ext cx="4014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ENV=.env.prod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08392" y="5065776"/>
            <a:ext cx="4014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robot-run-all-tests TAGS=oracle ENV=.env.prod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708392" y="5340096"/>
            <a:ext cx="4014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</a:t>
            </a:r>
            <a:r>
              <a:rPr lang="en-US" sz="1100" b="1" dirty="0">
                <a:solidFill>
                  <a:srgbClr val="B4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env_files/ 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.env + </a:t>
            </a:r>
            <a:r>
              <a:rPr lang="en-US" sz="1100" b="1" dirty="0">
                <a:solidFill>
                  <a:srgbClr val="F5B7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.env.prod </a:t>
            </a: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 wins)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708392" y="5641848"/>
            <a:ext cx="4014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cs typeface="Consolas" pitchFamily="34" charset="-120"/>
              </a:rPr>
              <a:t>ORG_ADMIN_USER=</a:t>
            </a:r>
            <a: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  <a:t>prod user</a:t>
            </a:r>
            <a:b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</a:b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cs typeface="Consolas" pitchFamily="34" charset="-120"/>
              </a:rPr>
              <a:t>ORG_ADMIN_PASSWORD</a:t>
            </a:r>
            <a: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  <a:t>= prod pass</a:t>
            </a:r>
            <a:br>
              <a:rPr lang="en-US" sz="1100" b="1" dirty="0">
                <a:solidFill>
                  <a:srgbClr val="FFE699"/>
                </a:solidFill>
                <a:latin typeface="Consolas" pitchFamily="34" charset="0"/>
                <a:cs typeface="Consolas" pitchFamily="34" charset="-120"/>
              </a:rPr>
            </a:b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ORACLE_HOSTNAME = </a:t>
            </a:r>
            <a:r>
              <a:rPr lang="en-US" sz="1100" b="1" dirty="0">
                <a:solidFill>
                  <a:srgbClr val="FFE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prod-</a:t>
            </a:r>
            <a:r>
              <a:rPr lang="en-US" sz="1100" b="1" dirty="0" err="1">
                <a:solidFill>
                  <a:srgbClr val="FFE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oracle.local</a:t>
            </a:r>
            <a:endParaRPr lang="en-US" sz="1100" b="1" dirty="0">
              <a:solidFill>
                <a:srgbClr val="FFE69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Environment Variables — Same Tests, Different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0" i="1">
                <a:solidFill>
                  <a:srgbClr val="CADCFC"/>
                </a:solidFill>
                <a:latin typeface="Calibri"/>
              </a:rPr>
              <a:t>One codebase. Multiple environments. No code changes.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0175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1E2761"/>
                </a:solidFill>
                <a:latin typeface="Calibri"/>
              </a:rPr>
              <a:t>Your Robot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Test Suite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2651760" cy="1143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2606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onsolas"/>
              </a:rPr>
              <a:t>*** Test Cases 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56432"/>
            <a:ext cx="26060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onsolas"/>
              </a:rPr>
              <a:t>Run Oracle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39312"/>
            <a:ext cx="2514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onsolas"/>
              </a:rPr>
              <a:t>Connect To Oracle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03904"/>
            <a:ext cx="2423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  <a:latin typeface="Consolas"/>
              </a:rPr>
              <a:t>${URL}    ${ORG_NAME}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86784"/>
            <a:ext cx="2514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onsolas"/>
              </a:rPr>
              <a:t>Execute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51376"/>
            <a:ext cx="2514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374151"/>
                </a:solidFill>
                <a:latin typeface="Consolas"/>
              </a:rPr>
              <a:t>Verify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34840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(uses ${VARS} — no hardcoded values)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657600" y="3200400"/>
            <a:ext cx="731520" cy="45720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65760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1">
                <a:solidFill>
                  <a:srgbClr val="4472C4"/>
                </a:solidFill>
                <a:latin typeface="Consolas"/>
              </a:rPr>
              <a:t>ENV=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194560"/>
            <a:ext cx="2423160" cy="26060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317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286000"/>
            <a:ext cx="2423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1E40AF"/>
                </a:solidFill>
                <a:latin typeface="Calibri"/>
              </a:rPr>
              <a:t>🧪 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78608"/>
            <a:ext cx="242316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1E40AF"/>
                </a:solidFill>
                <a:latin typeface="Consolas"/>
              </a:rPr>
              <a:t>.env.dev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2907791"/>
            <a:ext cx="2203704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onsolas"/>
              </a:rPr>
              <a:t>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072384"/>
            <a:ext cx="2203704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onsolas"/>
              </a:rPr>
              <a:t>dev.snaplogic.com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3346703"/>
            <a:ext cx="2203704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onsolas"/>
              </a:rPr>
              <a:t>ORG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511296"/>
            <a:ext cx="2203704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onsolas"/>
              </a:rPr>
              <a:t>dev_org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785615"/>
            <a:ext cx="2203704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onsolas"/>
              </a:rPr>
              <a:t>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3950207"/>
            <a:ext cx="2203704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onsolas"/>
              </a:rPr>
              <a:t>dev_user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224527"/>
            <a:ext cx="2203704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onsolas"/>
              </a:rPr>
              <a:t>DB_HOST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4389119"/>
            <a:ext cx="2203704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Consolas"/>
              </a:rPr>
              <a:t>dev-oracle.co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59752" y="2194560"/>
            <a:ext cx="2423160" cy="260604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317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59752" y="2286000"/>
            <a:ext cx="2423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65F46"/>
                </a:solidFill>
                <a:latin typeface="Calibri"/>
              </a:rPr>
              <a:t>🚦 STAGE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2" y="2578608"/>
            <a:ext cx="242316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065F46"/>
                </a:solidFill>
                <a:latin typeface="Consolas"/>
              </a:rPr>
              <a:t>.env.stage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907791"/>
            <a:ext cx="2203704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onsolas"/>
              </a:rPr>
              <a:t>URL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072384"/>
            <a:ext cx="2203704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  <a:latin typeface="Consolas"/>
              </a:rPr>
              <a:t>stage.snaplogic.com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346703"/>
            <a:ext cx="2203704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onsolas"/>
              </a:rPr>
              <a:t>ORG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511296"/>
            <a:ext cx="2203704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  <a:latin typeface="Consolas"/>
              </a:rPr>
              <a:t>stage_org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785615"/>
            <a:ext cx="2203704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onsolas"/>
              </a:rPr>
              <a:t>USER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3950207"/>
            <a:ext cx="2203704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  <a:latin typeface="Consolas"/>
              </a:rPr>
              <a:t>stage_user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224527"/>
            <a:ext cx="2203704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onsolas"/>
              </a:rPr>
              <a:t>DB_HOST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389119"/>
            <a:ext cx="2203704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065F46"/>
                </a:solidFill>
                <a:latin typeface="Consolas"/>
              </a:rPr>
              <a:t>stage-oracle.co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47504" y="2194560"/>
            <a:ext cx="2423160" cy="260604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317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47504" y="2286000"/>
            <a:ext cx="24231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991B1B"/>
                </a:solidFill>
                <a:latin typeface="Calibri"/>
              </a:rPr>
              <a:t>🚀 PROD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47504" y="2578608"/>
            <a:ext cx="242316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991B1B"/>
                </a:solidFill>
                <a:latin typeface="Consolas"/>
              </a:rPr>
              <a:t>.env.prod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7232" y="2907791"/>
            <a:ext cx="2203704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onsolas"/>
              </a:rPr>
              <a:t>URL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57232" y="3072384"/>
            <a:ext cx="2203704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991B1B"/>
                </a:solidFill>
                <a:latin typeface="Consolas"/>
              </a:rPr>
              <a:t>elastic.snaplogic.com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57232" y="3346703"/>
            <a:ext cx="2203704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onsolas"/>
              </a:rPr>
              <a:t>ORG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3511296"/>
            <a:ext cx="2203704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991B1B"/>
                </a:solidFill>
                <a:latin typeface="Consolas"/>
              </a:rPr>
              <a:t>prod_org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57232" y="3785615"/>
            <a:ext cx="2203704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onsolas"/>
              </a:rPr>
              <a:t>USER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57232" y="3950207"/>
            <a:ext cx="2203704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991B1B"/>
                </a:solidFill>
                <a:latin typeface="Consolas"/>
              </a:rPr>
              <a:t>prod_user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57232" y="4224527"/>
            <a:ext cx="2203704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6B7280"/>
                </a:solidFill>
                <a:latin typeface="Consolas"/>
              </a:rPr>
              <a:t>DB_HOST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7232" y="4389119"/>
            <a:ext cx="2203704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991B1B"/>
                </a:solidFill>
                <a:latin typeface="Consolas"/>
              </a:rPr>
              <a:t>prod-oracle.co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507492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2120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✅ No Code Changes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557784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Your tests don't know which environment they're running against. They just read ${URL}, ${ORG_NAME}, etc. — the values come from whichever ENV file you pass in.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25112" y="507492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62272" y="52120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🔒 Secrets Stay Safe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62272" y="557784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Credentials live in .env files (gitignored), never in source code. Same tests can run in dev with throwaway creds and in prod with real ones — without rewriting a single line.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84464" y="507492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21624" y="52120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🔁 Switch with One Flag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21624" y="5577840"/>
            <a:ext cx="35661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Run the same test suite against any environment by changing one argument: ENV=.env.stage or ENV=.env.prod. CI/CD, smoke tests, regression — all the same command.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803</Words>
  <Application>Microsoft Macintosh PowerPoint</Application>
  <PresentationFormat>Widescreen</PresentationFormat>
  <Paragraphs>70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Consolas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 File Hierarchy</dc:title>
  <dc:subject>PptxGenJS Presentation</dc:subject>
  <dc:creator>PptxGenJS</dc:creator>
  <cp:lastModifiedBy>Swapna Pothana</cp:lastModifiedBy>
  <cp:revision>2</cp:revision>
  <dcterms:created xsi:type="dcterms:W3CDTF">2026-05-12T18:01:18Z</dcterms:created>
  <dcterms:modified xsi:type="dcterms:W3CDTF">2026-05-12T18:26:21Z</dcterms:modified>
</cp:coreProperties>
</file>